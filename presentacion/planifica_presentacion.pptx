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c152d076af460c" /><Relationship Type="http://schemas.openxmlformats.org/officeDocument/2006/relationships/extended-properties" Target="/docProps/app.xml" Id="R170c767d136b4738" /><Relationship Type="http://schemas.openxmlformats.org/officeDocument/2006/relationships/officeDocument" Target="/ppt/presentation.xml" Id="R5661a20c412344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dbad130cb74ec5"/>
  </p:sldMasterIdLst>
  <p:notesMasterIdLst>
    <p:notesMasterId xmlns:r="http://schemas.openxmlformats.org/officeDocument/2006/relationships" r:id="R557feeb0aa384a53"/>
  </p:notesMasterIdLst>
  <p:sldIdLst>
    <p:sldId xmlns:r="http://schemas.openxmlformats.org/officeDocument/2006/relationships" id="256" r:id="R6a6f46f42183411f"/>
    <p:sldId xmlns:r="http://schemas.openxmlformats.org/officeDocument/2006/relationships" id="257" r:id="Rdea6e1c34c9f48bc"/>
    <p:sldId xmlns:r="http://schemas.openxmlformats.org/officeDocument/2006/relationships" id="258" r:id="Rdac0abad4edc40f7"/>
    <p:sldId xmlns:r="http://schemas.openxmlformats.org/officeDocument/2006/relationships" id="259" r:id="R3794d85beb8f4bc7"/>
    <p:sldId xmlns:r="http://schemas.openxmlformats.org/officeDocument/2006/relationships" id="260" r:id="R1790155568ae4fdf"/>
    <p:sldId xmlns:r="http://schemas.openxmlformats.org/officeDocument/2006/relationships" id="261" r:id="Rc7af6cef68234267"/>
    <p:sldId xmlns:r="http://schemas.openxmlformats.org/officeDocument/2006/relationships" id="262" r:id="R835e1ba10b4f49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8786ebc2d049ce" /><Relationship Type="http://schemas.openxmlformats.org/officeDocument/2006/relationships/slideMaster" Target="/ppt/slideMasters/slideMaster1.xml" Id="R0adbad130cb74ec5" /><Relationship Type="http://schemas.openxmlformats.org/officeDocument/2006/relationships/notesMaster" Target="/ppt/notesMasters/notesMaster1.xml" Id="R557feeb0aa384a53" /><Relationship Type="http://schemas.openxmlformats.org/officeDocument/2006/relationships/presProps" Target="/ppt/presProps.xml" Id="R1efd860975b44212" /><Relationship Type="http://schemas.openxmlformats.org/officeDocument/2006/relationships/tableStyles" Target="/ppt/tableStyles.xml" Id="R82faaa0eb287486f" /><Relationship Type="http://schemas.openxmlformats.org/officeDocument/2006/relationships/slide" Target="/ppt/slides/slide1.xml" Id="R6a6f46f42183411f" /><Relationship Type="http://schemas.openxmlformats.org/officeDocument/2006/relationships/slide" Target="/ppt/slides/slide2.xml" Id="Rdea6e1c34c9f48bc" /><Relationship Type="http://schemas.openxmlformats.org/officeDocument/2006/relationships/slide" Target="/ppt/slides/slide3.xml" Id="Rdac0abad4edc40f7" /><Relationship Type="http://schemas.openxmlformats.org/officeDocument/2006/relationships/slide" Target="/ppt/slides/slide4.xml" Id="R3794d85beb8f4bc7" /><Relationship Type="http://schemas.openxmlformats.org/officeDocument/2006/relationships/slide" Target="/ppt/slides/slide5.xml" Id="R1790155568ae4fdf" /><Relationship Type="http://schemas.openxmlformats.org/officeDocument/2006/relationships/slide" Target="/ppt/slides/slide6.xml" Id="Rc7af6cef68234267" /><Relationship Type="http://schemas.openxmlformats.org/officeDocument/2006/relationships/slide" Target="/ppt/slides/slide7.xml" Id="R835e1ba10b4f49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b008e6076440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9da8852fa34248" /><Relationship Type="http://schemas.openxmlformats.org/officeDocument/2006/relationships/notesMaster" Target="/ppt/notesMasters/notesMaster1.xml" Id="R833a832e517542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ee92b0b7f44388" /><Relationship Type="http://schemas.openxmlformats.org/officeDocument/2006/relationships/notesMaster" Target="/ppt/notesMasters/notesMaster1.xml" Id="Ra7b10036517142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5ea3e99e6b4121" /><Relationship Type="http://schemas.openxmlformats.org/officeDocument/2006/relationships/notesMaster" Target="/ppt/notesMasters/notesMaster1.xml" Id="R8a9a3951115a4a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1b3464807944b2" /><Relationship Type="http://schemas.openxmlformats.org/officeDocument/2006/relationships/notesMaster" Target="/ppt/notesMasters/notesMaster1.xml" Id="R4eee4e16e42b4b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5ba081c4b541ce" /><Relationship Type="http://schemas.openxmlformats.org/officeDocument/2006/relationships/notesMaster" Target="/ppt/notesMasters/notesMaster1.xml" Id="R148b89d43c0c4f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cc14f7d3974cdb" /><Relationship Type="http://schemas.openxmlformats.org/officeDocument/2006/relationships/notesMaster" Target="/ppt/notesMasters/notesMaster1.xml" Id="Rb33fd67f1e6f46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a41c0a8cb94406" /><Relationship Type="http://schemas.openxmlformats.org/officeDocument/2006/relationships/notesMaster" Target="/ppt/notesMasters/notesMaster1.xml" Id="R3476961c562d4e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informe_latex/main.pdf; informe_latex/main_entrega.pdf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informe_latex/main.pdf, capítulo 2; results/TECNICAS.md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results/RANKING_FINAL.md; informe_latex/main.pdf, capítulos 3 y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informe_latex/figures/fig_arquitectura_adaptativa.pdf; informe_latex/main_entrega.pdf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src/adaptive_fraud.py; informe_latex/chapters/adaptacion.tex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results/adaptive_results.csv; informe_latex/figures/fig_adaptacion_metricas.pdf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informe_latex/main_entrega.pdf; results/adaptive_results.csv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ba71d295347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92b4f7b0744d7c" /><Relationship Type="http://schemas.openxmlformats.org/officeDocument/2006/relationships/slideLayout" Target="/ppt/slideLayouts/slideLayout1.xml" Id="R4d2b79ad50e14d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2b79ad50e14d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8a99b02034209" /><Relationship Type="http://schemas.openxmlformats.org/officeDocument/2006/relationships/notesSlide" Target="/ppt/notesSlides/notesSlide1.xml" Id="R3ea80687371e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71f6389ef4924" /><Relationship Type="http://schemas.openxmlformats.org/officeDocument/2006/relationships/notesSlide" Target="/ppt/notesSlides/notesSlide2.xml" Id="Rf9a35e0af0714b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78c486b2544f2" /><Relationship Type="http://schemas.openxmlformats.org/officeDocument/2006/relationships/chart" Target="/ppt/slides/charts/chart1.xml" Id="Rc135223182f24b93" /><Relationship Type="http://schemas.openxmlformats.org/officeDocument/2006/relationships/notesSlide" Target="/ppt/notesSlides/notesSlide3.xml" Id="R006e377d95d146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e4ad02cb143f2" /><Relationship Type="http://schemas.openxmlformats.org/officeDocument/2006/relationships/notesSlide" Target="/ppt/notesSlides/notesSlide4.xml" Id="R09a413f171b543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b8c64e3f740c8" /><Relationship Type="http://schemas.openxmlformats.org/officeDocument/2006/relationships/notesSlide" Target="/ppt/notesSlides/notesSlide5.xml" Id="R759687bca78a45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9a68a3abd4cbf" /><Relationship Type="http://schemas.openxmlformats.org/officeDocument/2006/relationships/chart" Target="/ppt/slides/charts/chart2.xml" Id="Re7be0a55e6444b51" /><Relationship Type="http://schemas.openxmlformats.org/officeDocument/2006/relationships/notesSlide" Target="/ppt/notesSlides/notesSlide6.xml" Id="R1bf24d8439b248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3fa73ffe34952" /><Relationship Type="http://schemas.openxmlformats.org/officeDocument/2006/relationships/notesSlide" Target="/ppt/notesSlides/notesSlide7.xml" Id="R41ee6c5f277c47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AUC local</c:v>
          </c:tx>
          <c:spPr>
            <a:solidFill xmlns:a="http://schemas.openxmlformats.org/drawingml/2006/main">
              <a:srgbClr val="0B3C5D"/>
            </a:solidFill>
          </c:spPr>
          <c:cat>
            <c:strRef>
              <c:f>'Chart Data'!$A$2:$A$6</c:f>
              <c:strCache>
                <c:ptCount val="5"/>
                <c:pt idx="0">
                  <c:v>XGB CPU</c:v>
                </c:pt>
                <c:pt idx="1">
                  <c:v>XGB GPU</c:v>
                </c:pt>
                <c:pt idx="2">
                  <c:v>LightGBM</c:v>
                </c:pt>
                <c:pt idx="3">
                  <c:v>XGB d12</c:v>
                </c:pt>
                <c:pt idx="4">
                  <c:v>XGB + UID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0.9191</c:v>
                </c:pt>
                <c:pt idx="1">
                  <c:v>0.9227</c:v>
                </c:pt>
                <c:pt idx="2">
                  <c:v>0.92</c:v>
                </c:pt>
                <c:pt idx="3">
                  <c:v>0.9375</c:v>
                </c:pt>
                <c:pt idx="4">
                  <c:v>0.9479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dwaita Mono"/>
                  <a:ea typeface="Adwaita Mono"/>
                  <a:cs typeface="Adwaita Mon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dwaita Mono"/>
                <a:ea typeface="Adwaita Mono"/>
                <a:cs typeface="Adwaita Mono"/>
              </a:defRPr>
            </a:pPr>
          </a:p>
        </c:txPr>
        <c:crossAx val="48672768"/>
      </c:catAx>
      <c:valAx>
        <c:axId val="48672768"/>
        <c:scaling>
          <c:orientation val="minMax"/>
          <c:max val="0.96"/>
          <c:min val="0.8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CE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dwaita Mono"/>
                <a:ea typeface="Adwaita Mono"/>
                <a:cs typeface="Adwaita Mon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Expansiva</c:v>
          </c:tx>
          <c:spPr>
            <a:ln xmlns:a="http://schemas.openxmlformats.org/drawingml/2006/main" w="28575">
              <a:solidFill>
                <a:srgbClr val="0B3C5D"/>
              </a:solidFill>
              <a:prstDash val="solid"/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0.9175</c:v>
                </c:pt>
                <c:pt idx="1">
                  <c:v>0.9071</c:v>
                </c:pt>
                <c:pt idx="2">
                  <c:v>0.9182</c:v>
                </c:pt>
                <c:pt idx="3">
                  <c:v>0.9224</c:v>
                </c:pt>
              </c:numCache>
            </c:numRef>
          </c:val>
        </c:ser>
        <c:ser>
          <c:idx val="1"/>
          <c:order val="1"/>
          <c:tx>
            <c:v>30 días</c:v>
          </c:tx>
          <c:spPr>
            <a:ln xmlns:a="http://schemas.openxmlformats.org/drawingml/2006/main" w="28575">
              <a:solidFill>
                <a:srgbClr val="D95B43"/>
              </a:solidFill>
              <a:prstDash val="solid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0.9099</c:v>
                </c:pt>
                <c:pt idx="1">
                  <c:v>0.8937</c:v>
                </c:pt>
                <c:pt idx="2">
                  <c:v>0.9075</c:v>
                </c:pt>
                <c:pt idx="3">
                  <c:v>0.9043</c:v>
                </c:pt>
              </c:numCache>
            </c:numRef>
          </c:val>
        </c:ser>
        <c:ser>
          <c:idx val="2"/>
          <c:order val="2"/>
          <c:tx>
            <c:v>60 días</c:v>
          </c:tx>
          <c:spPr>
            <a:ln xmlns:a="http://schemas.openxmlformats.org/drawingml/2006/main" w="28575">
              <a:solidFill>
                <a:srgbClr val="0F766E"/>
              </a:solidFill>
              <a:prstDash val="solid"/>
            </a:ln>
          </c:spPr>
          <c:marker>
            <c:symbol val="none"/>
          </c:marker>
          <c:cat>
            <c:strRef>
              <c:f>'Chart Data'!$E$2:$E$5</c:f>
              <c:strCache>
                <c:ptCount val="4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0.9175</c:v>
                </c:pt>
                <c:pt idx="1">
                  <c:v>0.9041</c:v>
                </c:pt>
                <c:pt idx="2">
                  <c:v>0.9124</c:v>
                </c:pt>
                <c:pt idx="3">
                  <c:v>0.9215</c:v>
                </c:pt>
              </c:numCache>
            </c:numRef>
          </c:val>
        </c:ser>
        <c:ser>
          <c:idx val="3"/>
          <c:order val="3"/>
          <c:tx>
            <c:v>90 días</c:v>
          </c:tx>
          <c:spPr>
            <a:ln xmlns:a="http://schemas.openxmlformats.org/drawingml/2006/main" w="28575">
              <a:solidFill>
                <a:srgbClr val="20639B"/>
              </a:solidFill>
              <a:prstDash val="solid"/>
            </a:ln>
          </c:spPr>
          <c:marker>
            <c:symbol val="none"/>
          </c:marker>
          <c:cat>
            <c:strRef>
              <c:f>'Chart Data'!$G$2:$G$5</c:f>
              <c:strCache>
                <c:ptCount val="4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</c:strCache>
            </c:strRef>
          </c:cat>
          <c:val>
            <c:numRef>
              <c:f>'Chart Data'!$H$2:$H$5</c:f>
              <c:numCache>
                <c:formatCode>General</c:formatCode>
                <c:ptCount val="4"/>
                <c:pt idx="0">
                  <c:v>0.9175</c:v>
                </c:pt>
                <c:pt idx="1">
                  <c:v>0.9071</c:v>
                </c:pt>
                <c:pt idx="2">
                  <c:v>0.9159</c:v>
                </c:pt>
                <c:pt idx="3">
                  <c:v>0.9221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dwaita Mono"/>
                  <a:ea typeface="Adwaita Mono"/>
                  <a:cs typeface="Adwaita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dwaita Mono"/>
                <a:ea typeface="Adwaita Mono"/>
                <a:cs typeface="Adwaita Mono"/>
              </a:defRPr>
            </a:pPr>
          </a:p>
        </c:txPr>
        <c:crossAx val="48672768"/>
      </c:catAx>
      <c:valAx>
        <c:axId val="48672768"/>
        <c:scaling>
          <c:orientation val="minMax"/>
          <c:max val="0.93"/>
          <c:min val="0.8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dwaita Mono"/>
                <a:ea typeface="Adwaita Mono"/>
                <a:cs typeface="Adwaita Mon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dwaita Mono"/>
              <a:ea typeface="Adwaita Mono"/>
              <a:cs typeface="Adwaita Mono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C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929AA-7BA6-4B69-A5F1-4E7011CC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E2B93B"/>
                </a:solidFill>
                <a:latin typeface="Adwaita Mono"/>
                <a:ea typeface="Adwaita Mono"/>
                <a:cs typeface="Adwaita Mono"/>
              </a:defRPr>
            </a:pPr>
            <a:r>
              <a:rPr sz="1200" b="1" spc="1">
                <a:solidFill>
                  <a:srgbClr val="E2B93B"/>
                </a:solidFill>
                <a:latin typeface="Adwaita Mono"/>
                <a:ea typeface="Adwaita Mono"/>
                <a:cs typeface="Adwaita Mono"/>
              </a:rPr>
              <a:t>PROYECTO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68D7D-0B21-4C7B-80A0-E14985C6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defRPr>
            </a:pPr>
            <a:r>
              <a:rPr sz="39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rPr>
              <a:t>Sistema inteligente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defRPr>
            </a:pPr>
            <a:r>
              <a:rPr sz="39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rPr>
              <a:t>adaptativo para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defRPr>
            </a:pPr>
            <a:r>
              <a:rPr sz="39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rPr>
              <a:t>detección de fraude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A54C5-1D74-4D11-B9FB-028459F3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9E8EF"/>
                </a:solidFill>
                <a:latin typeface="Adwaita Mono"/>
                <a:ea typeface="Adwaita Mono"/>
                <a:cs typeface="Adwaita Mono"/>
              </a:defRPr>
            </a:pPr>
            <a:r>
              <a:rPr sz="1650">
                <a:solidFill>
                  <a:srgbClr val="D9E8EF"/>
                </a:solidFill>
                <a:latin typeface="Adwaita Mono"/>
                <a:ea typeface="Adwaita Mono"/>
                <a:cs typeface="Adwaita Mono"/>
              </a:rPr>
              <a:t>IEEE-CIS Fraud Detection · datos no estacionarios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183B1-863F-4A27-B608-B4744097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BD0DC"/>
                </a:solidFill>
                <a:latin typeface="Adwaita Mono"/>
                <a:ea typeface="Adwaita Mono"/>
                <a:cs typeface="Adwaita Mono"/>
              </a:defRPr>
            </a:pPr>
            <a:r>
              <a:rPr sz="1275">
                <a:solidFill>
                  <a:srgbClr val="BBD0DC"/>
                </a:solidFill>
                <a:latin typeface="Adwaita Mono"/>
                <a:ea typeface="Adwaita Mono"/>
                <a:cs typeface="Adwaita Mono"/>
              </a:rPr>
              <a:t>Línea base reproducida, ventanas temporales y monitoreo de drift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10F43-3155-4283-9DD3-D840910B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952500" cy="11239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45E30-56C0-43B1-9C0A-848C5796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526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rPr>
              <a:t>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E4224-CB71-4578-8B2D-52E42D5E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D9E8EF"/>
                </a:solidFill>
                <a:latin typeface="Adwaita Mono"/>
                <a:ea typeface="Adwaita Mono"/>
                <a:cs typeface="Adwaita Mono"/>
              </a:defRPr>
            </a:pPr>
            <a:r>
              <a:rPr sz="900">
                <a:solidFill>
                  <a:srgbClr val="D9E8EF"/>
                </a:solidFill>
                <a:latin typeface="Adwaita Mono"/>
                <a:ea typeface="Adwaita Mono"/>
                <a:cs typeface="Adwaita Mono"/>
              </a:rPr>
              <a:t>orden temporal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963E3-3496-41C2-B66B-09CA0F01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952500" cy="11239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E5666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5DC3D-334C-41BC-B2DF-5D6E5C45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526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rPr>
              <a:t>MODELO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3BF1A-3E8E-4EA1-AEA6-EA6B7C1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431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D9E8EF"/>
                </a:solidFill>
                <a:latin typeface="Adwaita Mono"/>
                <a:ea typeface="Adwaita Mono"/>
                <a:cs typeface="Adwaita Mono"/>
              </a:defRPr>
            </a:pPr>
            <a:r>
              <a:rPr sz="900">
                <a:solidFill>
                  <a:srgbClr val="D9E8EF"/>
                </a:solidFill>
                <a:latin typeface="Adwaita Mono"/>
                <a:ea typeface="Adwaita Mono"/>
                <a:cs typeface="Adwaita Mono"/>
              </a:rPr>
              <a:t>score de fraude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63E23-BF9D-4A7B-95CA-A8BBE3F7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0"/>
            <a:ext cx="952500" cy="11239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7C4A43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80259-5A4C-4CE5-B6E3-AD6AD69C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526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rPr>
              <a:t>ADAPTACIÓN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E5F4F-FDF6-42F3-A5C6-59AD1964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3431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D9E8EF"/>
                </a:solidFill>
                <a:latin typeface="Adwaita Mono"/>
                <a:ea typeface="Adwaita Mono"/>
                <a:cs typeface="Adwaita Mono"/>
              </a:defRPr>
            </a:pPr>
            <a:r>
              <a:rPr sz="900">
                <a:solidFill>
                  <a:srgbClr val="D9E8EF"/>
                </a:solidFill>
                <a:latin typeface="Adwaita Mono"/>
                <a:ea typeface="Adwaita Mono"/>
                <a:cs typeface="Adwaita Mono"/>
              </a:rPr>
              <a:t>PSI + ventanas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525000" y="22764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B93B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763250" y="22764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B93B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889D8-4DC8-4CB1-9047-9C241283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908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B93B"/>
                </a:solidFill>
                <a:latin typeface="Adwaita Mono"/>
                <a:ea typeface="Adwaita Mono"/>
                <a:cs typeface="Adwaita Mono"/>
              </a:defRPr>
            </a:pPr>
            <a:r>
              <a:rPr sz="1200" b="1">
                <a:solidFill>
                  <a:srgbClr val="E2B93B"/>
                </a:solidFill>
                <a:latin typeface="Adwaita Mono"/>
                <a:ea typeface="Adwaita Mono"/>
                <a:cs typeface="Adwaita Mono"/>
              </a:rPr>
              <a:t>medir → decidir → ajustar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B3FA1-2F6C-4D6C-8F09-D06D76B6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BD0DC"/>
                </a:solidFill>
                <a:latin typeface="Adwaita Mono"/>
                <a:ea typeface="Adwaita Mono"/>
                <a:cs typeface="Adwaita Mono"/>
              </a:defRPr>
            </a:pPr>
            <a:r>
              <a:rPr sz="1125">
                <a:solidFill>
                  <a:srgbClr val="BBD0DC"/>
                </a:solidFill>
                <a:latin typeface="Adwaita Mono"/>
                <a:ea typeface="Adwaita Mono"/>
                <a:cs typeface="Adwaita Mono"/>
              </a:rPr>
              <a:t>Edgar Chambilla · Septiembre 2026</a:t>
            </a:r>
          </a:p>
        </p:txBody>
      </p:sp>
    </p:spTree>
    <p:extLst>
      <p:ext uri="{BB962C8B-B14F-4D97-AF65-F5344CB8AC3E}">
        <p14:creationId xmlns:p14="http://schemas.microsoft.com/office/powerpoint/2010/main" val="1495572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8F15A-CC26-4CB2-B242-BC346098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0F766E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 spc="1">
                <a:solidFill>
                  <a:srgbClr val="0F766E"/>
                </a:solidFill>
                <a:latin typeface="Adwaita Mono"/>
                <a:ea typeface="Adwaita Mono"/>
                <a:cs typeface="Adwaita Mono"/>
              </a:rPr>
              <a:t>SISTEMA ADAPTATIVO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306E6-60EC-49E2-BB73-92A9B3BF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285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La distribución del fraude cambia con el tiempo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12EBE-1852-4533-B238-94A357DC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El modelo se entrena con pasado y se evalúa en bloques futuros.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DDD2F-DAE9-46CF-A18B-1D3FF743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52F19-F4AC-4054-8C0F-CAF2931B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C5D"/>
                </a:solidFill>
                <a:latin typeface="Adwaita Mono"/>
                <a:ea typeface="Adwaita Mono"/>
                <a:cs typeface="Adwaita Mono"/>
              </a:defRPr>
            </a:pPr>
            <a:r>
              <a:rPr sz="3150" b="1">
                <a:solidFill>
                  <a:srgbClr val="0B3C5D"/>
                </a:solidFill>
                <a:latin typeface="Adwaita Mono"/>
                <a:ea typeface="Adwaita Mono"/>
                <a:cs typeface="Adwaita Mono"/>
              </a:rPr>
              <a:t>590 540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318EA-842A-46F4-BEB9-8CCC1788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transacciones de entrenamiento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1D58E-7812-4ACB-A6C4-42E7975E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95B43"/>
                </a:solidFill>
                <a:latin typeface="Adwaita Mono"/>
                <a:ea typeface="Adwaita Mono"/>
                <a:cs typeface="Adwaita Mono"/>
              </a:defRPr>
            </a:pPr>
            <a:r>
              <a:rPr sz="2700" b="1">
                <a:solidFill>
                  <a:srgbClr val="D95B43"/>
                </a:solidFill>
                <a:latin typeface="Adwaita Mono"/>
                <a:ea typeface="Adwaita Mono"/>
                <a:cs typeface="Adwaita Mono"/>
              </a:rPr>
              <a:t>3,50%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03BD4-55C0-47AB-92EE-36EEF427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20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fraudes · desbalance 1:27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FD89A-A37C-47AD-A116-092B6959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23850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11AE4-4F9E-4975-BA1D-726B6C20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28875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3C5D"/>
                </a:solidFill>
                <a:latin typeface="Adwaita Mono"/>
                <a:ea typeface="Adwaita Mono"/>
                <a:cs typeface="Adwaita Mono"/>
              </a:defRPr>
            </a:pPr>
            <a:r>
              <a:rPr sz="2100" b="1">
                <a:solidFill>
                  <a:srgbClr val="0B3C5D"/>
                </a:solidFill>
                <a:latin typeface="Adwaita Mono"/>
                <a:ea typeface="Adwaita Mono"/>
                <a:cs typeface="Adwaita Mono"/>
              </a:rPr>
              <a:t>La validación aleatoria</a:t>
            </a:r>
          </a:p>
          <a:p xmlns:a="http://schemas.openxmlformats.org/drawingml/2006/main">
            <a:pPr>
              <a:defRPr sz="2100" b="1">
                <a:solidFill>
                  <a:srgbClr val="0B3C5D"/>
                </a:solidFill>
                <a:latin typeface="Adwaita Mono"/>
                <a:ea typeface="Adwaita Mono"/>
                <a:cs typeface="Adwaita Mono"/>
              </a:defRPr>
            </a:pPr>
            <a:r>
              <a:rPr sz="2100" b="1">
                <a:solidFill>
                  <a:srgbClr val="0B3C5D"/>
                </a:solidFill>
                <a:latin typeface="Adwaita Mono"/>
                <a:ea typeface="Adwaita Mono"/>
                <a:cs typeface="Adwaita Mono"/>
              </a:rPr>
              <a:t>puede inflar el 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62D98-2568-4B90-9451-915E83A2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76625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Por eso ordenamos las observaciones por TransactionDT y reservamos bloques futuros.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703FB-ECA9-4401-9056-B25CDEA3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23850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0D2E6-6A88-484E-9D5B-6218214E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28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5B43"/>
                </a:solidFill>
                <a:latin typeface="Adwaita Mono"/>
                <a:ea typeface="Adwaita Mono"/>
                <a:cs typeface="Adwaita Mono"/>
              </a:defRPr>
            </a:pPr>
            <a:r>
              <a:rPr sz="1125" b="1">
                <a:solidFill>
                  <a:srgbClr val="D95B43"/>
                </a:solidFill>
                <a:latin typeface="Adwaita Mono"/>
                <a:ea typeface="Adwaita Mono"/>
                <a:cs typeface="Adwaita Mono"/>
              </a:rPr>
              <a:t>Pregunta del sistema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5CA3C-E483-43FB-869F-24A82804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2175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¿Cuánto histórico debe</a:t>
            </a:r>
          </a:p>
          <a:p xmlns:a="http://schemas.openxmlformats.org/drawingml/2006/main">
            <a:pPr>
              <a:defRPr sz="2175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2175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recordar el modelo?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F981D-C427-4A9D-8500-428B5F7B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La respuesta se evalúa con ventanas y costos.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E44C9-4631-4832-9A93-25288FA0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825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Proyecto 1 · Planificación y Toma de Decisiones en 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C55F3-45BE-4B5B-AD57-B6063A78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038159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9EDCE-0A4F-4AAD-B69C-62B16A6D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0F766E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 spc="1">
                <a:solidFill>
                  <a:srgbClr val="0F766E"/>
                </a:solidFill>
                <a:latin typeface="Adwaita Mono"/>
                <a:ea typeface="Adwaita Mono"/>
                <a:cs typeface="Adwaita Mono"/>
              </a:rPr>
              <a:t>SISTEMA ADAPTATIVO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E1EDA-0F98-498C-8AD0-4136A37F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285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La mayor mejora viene de cómo representamos los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24672-AA58-4792-AE1E-56875767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El mismo XGBoost mejora cuando incorpora contexto del cliente implícito.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35223182f24b9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65DEE-9A06-4562-9DF4-9F15029D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70F0F-889B-4361-A8F3-5380CD34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95B43"/>
                </a:solidFill>
                <a:latin typeface="Adwaita Mono"/>
                <a:ea typeface="Adwaita Mono"/>
                <a:cs typeface="Adwaita Mono"/>
              </a:defRPr>
            </a:pPr>
            <a:r>
              <a:rPr sz="3150" b="1">
                <a:solidFill>
                  <a:srgbClr val="D95B43"/>
                </a:solidFill>
                <a:latin typeface="Adwaita Mono"/>
                <a:ea typeface="Adwaita Mono"/>
                <a:cs typeface="Adwaita Mono"/>
              </a:rPr>
              <a:t>+0.0104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12C80-0CC5-47FD-BD87-03B3F91E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71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135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AUC con magic UID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2614E-0FC2-40B1-999F-89CFAE69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385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275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El UID no entra al árbol. Se usa para crear frecuencia, medias, desviaciones y cardinalidades históricas.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01830-C38D-43CB-BD02-3F0E2433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825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Proyecto 1 · Planificación y Toma de Decisiones en 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6A989-C244-4F39-B016-A19E395A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7745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0B9988-81D4-4A0D-86AB-E0819546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0F766E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 spc="1">
                <a:solidFill>
                  <a:srgbClr val="0F766E"/>
                </a:solidFill>
                <a:latin typeface="Adwaita Mono"/>
                <a:ea typeface="Adwaita Mono"/>
                <a:cs typeface="Adwaita Mono"/>
              </a:rPr>
              <a:t>SISTEMA ADAPTATIVO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D8917-14DD-40CA-9D5C-87CAA502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285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El score se convierte en una decisión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213EE-6815-4B32-9314-B8BB241E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Las métricas indican cuándo actualizar el modelo.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88DFA-9426-4159-AF9E-62F3491F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5716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EF2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89F96-F17E-4B89-8AD3-3057B87E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Datos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1FE3A-734A-49CF-A714-B33D470F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transacción + identidad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14AE5-90B4-4417-809F-2CCFE5BC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28875"/>
            <a:ext cx="15716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E8FB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46C09-67B9-4322-B005-FBA8870A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90800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Validación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2B949-B7A6-4824-91ED-402893B3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146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orden temporal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DD25D-CFE2-446A-9886-0A9ED791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28875"/>
            <a:ext cx="15716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E0F8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76317-EFFB-419A-B7AE-B803F2FB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90800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F3640-D57B-447E-B410-D0C49CBA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UID causal + 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D083A-A2F9-49ED-8F6B-886F78A1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28875"/>
            <a:ext cx="15716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4D5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E5F0E-D5F7-44FC-BF71-02422501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90800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Modelo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47F05-B320-456D-9574-A6185C60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146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XGBoost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D9349-C8E9-4BC0-8347-053BC6F2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15716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F0C7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6E532-732C-4415-81E6-34E449F2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9578B-0374-48AB-A0AA-D3357BCA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incertidumbre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ED713-28F6-4503-ACC4-0CC89A4B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28875"/>
            <a:ext cx="15716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BD8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EDD6D-7EBF-49F2-AB74-3F30C280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590800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Decisión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217E0-96B9-411D-9632-08C5B99E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9146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0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aprobar / revisar / bloquear</a:t>
            </a:r>
          </a:p>
        </p:txBody>
      </p:sp>
      <p:cxnSp>
        <p:nvCxnSpPr>
          <p:cNvPr id="5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57425" y="28860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95750" y="28860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34075" y="28860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772400" y="28860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610725" y="28860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F3F578-730B-4CED-8A99-1883FFC3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81500"/>
            <a:ext cx="247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D7DF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EB56D1-0E54-4BC0-B763-EC229672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8150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D7DF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F4194C-83C3-43F7-8CC8-FD7B15CE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24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Monitoreo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516C1F-D7E5-435B-89C5-A2C20C82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482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20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AUC · PSI · costo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263175-FF55-4D98-ABD2-9D65F1D7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150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Adaptación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68A99E-329B-40DA-94BC-0CE72E54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482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20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ventana + reentrenamiento</a:t>
            </a:r>
          </a:p>
        </p:txBody>
      </p:sp>
      <p:cxnSp>
        <p:nvCxnSpPr>
          <p:cNvPr id="70" name=""/>
          <p:cNvCxnSpPr>
            <a:stCxn xmlns:a="http://schemas.openxmlformats.org/drawingml/2006/main" id="13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5762625" y="3343275"/>
            <a:ext cx="1223963" cy="1038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000875" y="48006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E83"/>
            </a:solidFill>
            <a:prstDash val="soli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28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 flipV="1">
            <a:off x="5148263" y="3343275"/>
            <a:ext cx="4138613" cy="1038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B5E83"/>
            </a:solidFill>
            <a:prstDash val="dash"/>
            <a:tailEnd type="arrow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AF5DED-DDF4-4C03-936D-C525C65B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825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Proyecto 1 · Planificación y Toma de Decisiones en IA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B5F633-4F4F-4EC2-A471-BD22F363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860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D929F-6F64-43ED-8ECA-39EF0620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0F766E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 spc="1">
                <a:solidFill>
                  <a:srgbClr val="0F766E"/>
                </a:solidFill>
                <a:latin typeface="Adwaita Mono"/>
                <a:ea typeface="Adwaita Mono"/>
                <a:cs typeface="Adwaita Mono"/>
              </a:rPr>
              <a:t>SISTEMA ADAPTATIVO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6F7-8E22-4377-BF8A-732D5AEF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285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Cada bloque futuro usa solo la información disponible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1FFCE-4781-43B7-AD52-AE4D997E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El entrenamiento y las agregaciones respetan el instante de cada transacción.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78BA6-700A-4A6C-BC81-CB477D9B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3EC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831B8-E8B2-4992-AD87-619E54C7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3C5D"/>
                </a:solidFill>
                <a:latin typeface="Adwaita Mono"/>
                <a:ea typeface="Adwaita Mono"/>
                <a:cs typeface="Adwaita Mono"/>
              </a:defRPr>
            </a:pPr>
            <a:r>
              <a:rPr sz="1725" b="1">
                <a:solidFill>
                  <a:srgbClr val="0B3C5D"/>
                </a:solidFill>
                <a:latin typeface="Adwaita Mono"/>
                <a:ea typeface="Adwaita Mono"/>
                <a:cs typeface="Adwaita Mono"/>
              </a:rPr>
              <a:t>60 días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5949A-43B4-400A-859A-55E8AA00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125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histórico inicial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A0C18-AD08-4EF4-B853-D69AECAA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3EC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88A76-0D24-447B-AA54-84FCA27B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765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5B43"/>
                </a:solidFill>
                <a:latin typeface="Adwaita Mono"/>
                <a:ea typeface="Adwaita Mono"/>
                <a:cs typeface="Adwaita Mono"/>
              </a:defRPr>
            </a:pPr>
            <a:r>
              <a:rPr sz="1725" b="1">
                <a:solidFill>
                  <a:srgbClr val="D95B43"/>
                </a:solidFill>
                <a:latin typeface="Adwaita Mono"/>
                <a:ea typeface="Adwaita Mono"/>
                <a:cs typeface="Adwaita Mono"/>
              </a:rPr>
              <a:t>30 días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8A89A-4A49-43F7-89AE-B66ABDAF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909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125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bloque futuro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0E796-53D6-4AF5-B7AC-9C1E7B63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3EC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8D84F-B3FD-4B5E-A06A-DDC32E19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766E"/>
                </a:solidFill>
                <a:latin typeface="Adwaita Mono"/>
                <a:ea typeface="Adwaita Mono"/>
                <a:cs typeface="Adwaita Mono"/>
              </a:defRPr>
            </a:pPr>
            <a:r>
              <a:rPr sz="1725" b="1">
                <a:solidFill>
                  <a:srgbClr val="0F766E"/>
                </a:solidFill>
                <a:latin typeface="Adwaita Mono"/>
                <a:ea typeface="Adwaita Mono"/>
                <a:cs typeface="Adwaita Mono"/>
              </a:rPr>
              <a:t>PSI + métricas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4B387-5E22-4C9A-9047-A7406DCF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909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125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drift y costo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E6272-0F43-4B2B-A617-59D7E520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3EC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D9726-8CA1-4A71-8AC4-3E2908A0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765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F7C5A"/>
                </a:solidFill>
                <a:latin typeface="Adwaita Mono"/>
                <a:ea typeface="Adwaita Mono"/>
                <a:cs typeface="Adwaita Mono"/>
              </a:defRPr>
            </a:pPr>
            <a:r>
              <a:rPr sz="1725" b="1">
                <a:solidFill>
                  <a:srgbClr val="4F7C5A"/>
                </a:solidFill>
                <a:latin typeface="Adwaita Mono"/>
                <a:ea typeface="Adwaita Mono"/>
                <a:cs typeface="Adwaita Mono"/>
              </a:rPr>
              <a:t>ventana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FD4F9-33E9-464F-97DC-2BC25A65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09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125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30 / 60 / 90 / expansiva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06A91-5088-4F56-88FF-4498EBA9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3EC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2B84A-2B90-49B8-BE50-40689384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765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B5E83"/>
                </a:solidFill>
                <a:latin typeface="Adwaita Mono"/>
                <a:ea typeface="Adwaita Mono"/>
                <a:cs typeface="Adwaita Mono"/>
              </a:defRPr>
            </a:pPr>
            <a:r>
              <a:rPr sz="1725" b="1">
                <a:solidFill>
                  <a:srgbClr val="8B5E83"/>
                </a:solidFill>
                <a:latin typeface="Adwaita Mono"/>
                <a:ea typeface="Adwaita Mono"/>
                <a:cs typeface="Adwaita Mono"/>
              </a:rPr>
              <a:t>actualizar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26B73-A735-438D-8D7A-28D5BDC7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909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125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reentrenamiento</a:t>
            </a:r>
          </a:p>
        </p:txBody>
      </p:sp>
      <p:cxnSp>
        <p:nvCxnSpPr>
          <p:cNvPr id="4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86000" y="3286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D2D9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72000" y="3286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D2D9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858000" y="3286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D2D9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144000" y="3286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D2D9"/>
            </a:solidFill>
            <a:prstDash val="soli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843DC-4E8B-40D4-8085-306F30A3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10125"/>
            <a:ext cx="781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C06340-644B-4359-8769-C705FB1C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815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3C5D"/>
                </a:solidFill>
                <a:latin typeface="Adwaita Mono"/>
                <a:ea typeface="Adwaita Mono"/>
                <a:cs typeface="Adwaita Mono"/>
              </a:defRPr>
            </a:pPr>
            <a:r>
              <a:rPr sz="1200" b="1">
                <a:solidFill>
                  <a:srgbClr val="0B3C5D"/>
                </a:solidFill>
                <a:latin typeface="Adwaita Mono"/>
                <a:ea typeface="Adwaita Mono"/>
                <a:cs typeface="Adwaita Mono"/>
              </a:rPr>
              <a:t>Criterio de actualización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E7DFDE-59E0-4B91-80B6-8707BD7D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434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1275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PSI alto o caída de desempeño → revisar la ventana y reentrenar. Sin alarma, conservar el modelo y seguir midiendo.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12832-12EA-4833-9879-0A0AC2BF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825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Proyecto 1 · Planificación y Toma de Decisiones en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067168-0FA5-4DBE-BBD0-2EF6F3A3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3845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EBF92-0496-4982-AEEC-6A10C931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0F766E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 spc="1">
                <a:solidFill>
                  <a:srgbClr val="0F766E"/>
                </a:solidFill>
                <a:latin typeface="Adwaita Mono"/>
                <a:ea typeface="Adwaita Mono"/>
                <a:cs typeface="Adwaita Mono"/>
              </a:rPr>
              <a:t>SISTEMA ADAPTATIVO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15A91-2D38-486F-B46A-15237264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2850" b="1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Reducir la historia no garantiza mejor rendimiento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79FD8-C82C-4ECD-AD93-5A343A5E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350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Corrida completa: 590 540 transacciones, cuatro bloques futuros, XGBoost de 180 árboles.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7048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be0a55e6444b5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1AA5E-81C6-493A-B1EB-3CA1FD4B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38375"/>
            <a:ext cx="29527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B4A6A-1AC6-4D5B-943D-279ECABA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3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1125" b="1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AUC promedio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34A67-330B-4078-81D1-1051B3F8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3C5D"/>
                </a:solidFill>
                <a:latin typeface="Adwaita Mono"/>
                <a:ea typeface="Adwaita Mono"/>
                <a:cs typeface="Adwaita Mono"/>
              </a:defRPr>
            </a:pPr>
            <a:r>
              <a:rPr sz="3000" b="1">
                <a:solidFill>
                  <a:srgbClr val="0B3C5D"/>
                </a:solidFill>
                <a:latin typeface="Adwaita Mono"/>
                <a:ea typeface="Adwaita Mono"/>
                <a:cs typeface="Adwaita Mono"/>
              </a:rPr>
              <a:t>0.9163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592C3-3360-4619-9361-DE2884E9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909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1275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ventana expansiva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03894-B6B1-460C-AD0D-AA041AFA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290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D95B43"/>
                </a:solidFill>
                <a:latin typeface="Adwaita Mono"/>
                <a:ea typeface="Adwaita Mono"/>
                <a:cs typeface="Adwaita Mono"/>
              </a:defRPr>
            </a:pPr>
            <a:r>
              <a:rPr sz="3000" b="1">
                <a:solidFill>
                  <a:srgbClr val="D95B43"/>
                </a:solidFill>
                <a:latin typeface="Adwaita Mono"/>
                <a:ea typeface="Adwaita Mono"/>
                <a:cs typeface="Adwaita Mono"/>
              </a:rPr>
              <a:t>0.9039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56509-BB66-4C00-B4C8-FECC6A5B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62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43"/>
                </a:solidFill>
                <a:latin typeface="Adwaita Mono"/>
                <a:ea typeface="Adwaita Mono"/>
                <a:cs typeface="Adwaita Mono"/>
              </a:defRPr>
            </a:pPr>
            <a:r>
              <a:rPr sz="1275">
                <a:solidFill>
                  <a:srgbClr val="102A43"/>
                </a:solidFill>
                <a:latin typeface="Adwaita Mono"/>
                <a:ea typeface="Adwaita Mono"/>
                <a:cs typeface="Adwaita Mono"/>
              </a:rPr>
              <a:t>ventana de 30 días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669C4-AA70-432B-97E3-21D3E1F9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825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Proyecto 1 · Planificación y Toma de Decisiones en 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F0340-9A5B-47BF-975B-916612DF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dwaita Mono"/>
                <a:ea typeface="Adwaita Mono"/>
                <a:cs typeface="Adwaita Mono"/>
              </a:defRPr>
            </a:pPr>
            <a:r>
              <a:rPr sz="900" b="1">
                <a:solidFill>
                  <a:srgbClr val="627D98"/>
                </a:solidFill>
                <a:latin typeface="Adwaita Mono"/>
                <a:ea typeface="Adwaita Mono"/>
                <a:cs typeface="Adwaita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0527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3C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FBC74-6014-449F-977A-D1409D54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E2B93B"/>
                </a:solidFill>
                <a:latin typeface="Adwaita Mono"/>
                <a:ea typeface="Adwaita Mono"/>
                <a:cs typeface="Adwaita Mono"/>
              </a:defRPr>
            </a:pPr>
            <a:r>
              <a:rPr sz="975" b="1" spc="1">
                <a:solidFill>
                  <a:srgbClr val="E2B93B"/>
                </a:solidFill>
                <a:latin typeface="Adwaita Mono"/>
                <a:ea typeface="Adwaita Mono"/>
                <a:cs typeface="Adwaita Mono"/>
              </a:rPr>
              <a:t>SISTEMA ADAPTATIVO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BB1C9-A7AC-4253-BE47-1D8BF356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dwaita Mono"/>
                <a:ea typeface="Adwaita Mono"/>
                <a:cs typeface="Adwaita Mono"/>
              </a:defRPr>
            </a:pPr>
            <a:r>
              <a:rPr sz="3375" b="1">
                <a:solidFill>
                  <a:srgbClr val="FFFFFF"/>
                </a:solidFill>
                <a:latin typeface="Adwaita Mono"/>
                <a:ea typeface="Adwaita Mono"/>
                <a:cs typeface="Adwaita Mono"/>
              </a:rPr>
              <a:t>La línea base orienta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dwaita Mono"/>
                <a:ea typeface="Adwaita Mono"/>
                <a:cs typeface="Adwaita Mono"/>
              </a:defRPr>
            </a:pPr>
            <a:r>
              <a:rPr sz="3375" b="1">
                <a:solidFill>
                  <a:srgbClr val="FFFFFF"/>
                </a:solidFill>
                <a:latin typeface="Adwaita Mono"/>
                <a:ea typeface="Adwaita Mono"/>
                <a:cs typeface="Adwaita Mono"/>
              </a:rPr>
              <a:t>la adaptación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619A5-570C-402E-B67C-A60467CB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9E8EF"/>
                </a:solidFill>
                <a:latin typeface="Adwaita Mono"/>
                <a:ea typeface="Adwaita Mono"/>
                <a:cs typeface="Adwaita Mono"/>
              </a:defRPr>
            </a:pPr>
            <a:r>
              <a:rPr sz="1575">
                <a:solidFill>
                  <a:srgbClr val="D9E8EF"/>
                </a:solidFill>
                <a:latin typeface="Adwaita Mono"/>
                <a:ea typeface="Adwaita Mono"/>
                <a:cs typeface="Adwaita Mono"/>
              </a:rPr>
              <a:t>El sistema combina contexto de entidad, validación hacia el futuro y decisiones con costo.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A0475-A737-4734-8D3B-D55153D8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B93B"/>
          </a:solidFill>
          <a:ln xmlns:a="http://schemas.openxmlformats.org/drawingml/2006/main" w="0">
            <a:solidFill>
              <a:srgbClr val="E2B9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28849-FE89-43C7-9A7A-80B635F7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defRPr>
            </a:pPr>
            <a:r>
              <a:rPr sz="15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rPr>
              <a:t>Features causales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287D9-E057-40A5-A3AC-39B03438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47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BD0DC"/>
                </a:solidFill>
                <a:latin typeface="Adwaita Mono"/>
                <a:ea typeface="Adwaita Mono"/>
                <a:cs typeface="Adwaita Mono"/>
              </a:defRPr>
            </a:pPr>
            <a:r>
              <a:rPr sz="1275">
                <a:solidFill>
                  <a:srgbClr val="BBD0DC"/>
                </a:solidFill>
                <a:latin typeface="Adwaita Mono"/>
                <a:ea typeface="Adwaita Mono"/>
                <a:cs typeface="Adwaita Mono"/>
              </a:rPr>
              <a:t>El UID aporta contexto sin usar información futura.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620E8-8C49-4087-995B-56941718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B93B"/>
          </a:solidFill>
          <a:ln xmlns:a="http://schemas.openxmlformats.org/drawingml/2006/main" w="0">
            <a:solidFill>
              <a:srgbClr val="E2B9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387D5-6A17-4F25-87A6-FCE008BD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defRPr>
            </a:pPr>
            <a:r>
              <a:rPr sz="15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rPr>
              <a:t>Ventanas comparables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DFAE3-2DF0-45FB-97B0-58E49CB8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95800"/>
            <a:ext cx="647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BD0DC"/>
                </a:solidFill>
                <a:latin typeface="Adwaita Mono"/>
                <a:ea typeface="Adwaita Mono"/>
                <a:cs typeface="Adwaita Mono"/>
              </a:defRPr>
            </a:pPr>
            <a:r>
              <a:rPr sz="1275">
                <a:solidFill>
                  <a:srgbClr val="BBD0DC"/>
                </a:solidFill>
                <a:latin typeface="Adwaita Mono"/>
                <a:ea typeface="Adwaita Mono"/>
                <a:cs typeface="Adwaita Mono"/>
              </a:rPr>
              <a:t>La ventana expansiva fue mejor en esta corrida.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EB356-8A43-45E3-A772-00D2B215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B93B"/>
          </a:solidFill>
          <a:ln xmlns:a="http://schemas.openxmlformats.org/drawingml/2006/main" w="0">
            <a:solidFill>
              <a:srgbClr val="E2B9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901DC-DFE3-4A1C-BC3F-58713CFE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defRPr>
            </a:pPr>
            <a:r>
              <a:rPr sz="1500" b="1">
                <a:solidFill>
                  <a:srgbClr val="FFFFFF"/>
                </a:solidFill>
                <a:latin typeface="Adwaita Mono"/>
                <a:ea typeface="Adwaita Mono"/>
                <a:cs typeface="Adwaita Mono"/>
              </a:rPr>
              <a:t>Monitoreo operativo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0703-0E2C-4017-97C0-2032D6B5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86350"/>
            <a:ext cx="647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BD0DC"/>
                </a:solidFill>
                <a:latin typeface="Adwaita Mono"/>
                <a:ea typeface="Adwaita Mono"/>
                <a:cs typeface="Adwaita Mono"/>
              </a:defRPr>
            </a:pPr>
            <a:r>
              <a:rPr sz="1275">
                <a:solidFill>
                  <a:srgbClr val="BBD0DC"/>
                </a:solidFill>
                <a:latin typeface="Adwaita Mono"/>
                <a:ea typeface="Adwaita Mono"/>
                <a:cs typeface="Adwaita Mono"/>
              </a:rPr>
              <a:t>AUC, PSI y costo deciden cuándo reentrenar.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F078E-F5B9-47FB-BFEC-71A10D17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BD0DC"/>
                </a:solidFill>
                <a:latin typeface="Adwaita Mono"/>
                <a:ea typeface="Adwaita Mono"/>
                <a:cs typeface="Adwaita Mono"/>
              </a:defRPr>
            </a:pPr>
            <a:r>
              <a:rPr sz="1050">
                <a:solidFill>
                  <a:srgbClr val="BBD0DC"/>
                </a:solidFill>
                <a:latin typeface="Adwaita Mono"/>
                <a:ea typeface="Adwaita Mono"/>
                <a:cs typeface="Adwaita Mono"/>
              </a:rPr>
              <a:t>Código: src/adaptive_fraud.py   ·   Informe corto: informe_latex/main_entrega.pdf</a:t>
            </a:r>
          </a:p>
        </p:txBody>
      </p:sp>
    </p:spTree>
    <p:extLst>
      <p:ext uri="{BB962C8B-B14F-4D97-AF65-F5344CB8AC3E}">
        <p14:creationId xmlns:p14="http://schemas.microsoft.com/office/powerpoint/2010/main" val="73974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2026-09-23T03:51:36.4740000Z</dcterms:created>
  <dcterms:modified xsi:type="dcterms:W3CDTF">2026-09-23T03:51:36.4740000Z</dcterms:modified>
</coreProperties>
</file>